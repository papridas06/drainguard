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30744D-16BF-2BA2-40A9-5C067DFAC7BD}"/>
              </a:ext>
            </a:extLst>
          </p:cNvPr>
          <p:cNvSpPr/>
          <p:nvPr/>
        </p:nvSpPr>
        <p:spPr>
          <a:xfrm>
            <a:off x="658368" y="484632"/>
            <a:ext cx="2468880" cy="310896"/>
          </a:xfrm>
          <a:prstGeom prst="roundRect">
            <a:avLst/>
          </a:prstGeom>
          <a:solidFill>
            <a:srgbClr val="2F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5B463-937B-3768-900B-EFD19763F7B0}"/>
              </a:ext>
            </a:extLst>
          </p:cNvPr>
          <p:cNvSpPr txBox="1"/>
          <p:nvPr/>
        </p:nvSpPr>
        <p:spPr>
          <a:xfrm>
            <a:off x="658368" y="501804"/>
            <a:ext cx="24688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latin typeface="Aptos"/>
              </a:rPr>
              <a:t>1M1B AI FOR SUSTAINABILITY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789FC-5286-AF9E-A50F-4B4162BB19C9}"/>
              </a:ext>
            </a:extLst>
          </p:cNvPr>
          <p:cNvSpPr txBox="1"/>
          <p:nvPr/>
        </p:nvSpPr>
        <p:spPr>
          <a:xfrm>
            <a:off x="685800" y="89611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latin typeface="Aptos"/>
              </a:rPr>
              <a:t>IBM SKILLSBUILD  •  AICTE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46E35-8748-CFFB-D3F2-DBB814585F3D}"/>
              </a:ext>
            </a:extLst>
          </p:cNvPr>
          <p:cNvSpPr txBox="1"/>
          <p:nvPr/>
        </p:nvSpPr>
        <p:spPr>
          <a:xfrm>
            <a:off x="658368" y="1353312"/>
            <a:ext cx="56692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 dirty="0" err="1">
                <a:latin typeface="Aptos"/>
              </a:rPr>
              <a:t>DrainGuard</a:t>
            </a:r>
            <a:endParaRPr sz="3700" b="1" dirty="0"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BD170-0B13-87B1-8C5C-797F3C7207AB}"/>
              </a:ext>
            </a:extLst>
          </p:cNvPr>
          <p:cNvSpPr txBox="1"/>
          <p:nvPr/>
        </p:nvSpPr>
        <p:spPr>
          <a:xfrm>
            <a:off x="685800" y="2057400"/>
            <a:ext cx="571500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dirty="0">
                <a:latin typeface="Aptos"/>
              </a:rPr>
              <a:t>Drainage Risk Screening &amp;
Maintenance Prioritization Prototype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16243-1994-E6F4-F4F2-2877185A71E9}"/>
              </a:ext>
            </a:extLst>
          </p:cNvPr>
          <p:cNvSpPr txBox="1"/>
          <p:nvPr/>
        </p:nvSpPr>
        <p:spPr>
          <a:xfrm>
            <a:off x="685800" y="3227832"/>
            <a:ext cx="36576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latin typeface="Aptos"/>
              </a:rPr>
              <a:t>Papri Das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976F27-DEC3-52CD-9295-E3CDB0EC63D4}"/>
              </a:ext>
            </a:extLst>
          </p:cNvPr>
          <p:cNvSpPr txBox="1"/>
          <p:nvPr/>
        </p:nvSpPr>
        <p:spPr>
          <a:xfrm>
            <a:off x="685800" y="3611880"/>
            <a:ext cx="530352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latin typeface="Aptos"/>
              </a:rPr>
              <a:t>B.Tech – Electronics &amp; Communication Engineering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E0E51-A889-1DB9-C288-744F0BC3002D}"/>
              </a:ext>
            </a:extLst>
          </p:cNvPr>
          <p:cNvSpPr txBox="1"/>
          <p:nvPr/>
        </p:nvSpPr>
        <p:spPr>
          <a:xfrm>
            <a:off x="685800" y="4050791"/>
            <a:ext cx="530352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latin typeface="Aptos"/>
              </a:rPr>
              <a:t>Supreme Knowledge Foundation Group of Institutions
Mankundu, West Bengal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76A2F-1820-E477-FA4C-6810D13D1E52}"/>
              </a:ext>
            </a:extLst>
          </p:cNvPr>
          <p:cNvSpPr txBox="1"/>
          <p:nvPr/>
        </p:nvSpPr>
        <p:spPr>
          <a:xfrm>
            <a:off x="685800" y="4846320"/>
            <a:ext cx="566928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latin typeface="Aptos"/>
              </a:rPr>
              <a:t>INTERNSHIP ID  •  INTERNSHIP_17828984086a44dee80acf6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318DE26A-C0FD-4702-951C-D76289699AEE}"/>
              </a:ext>
            </a:extLst>
          </p:cNvPr>
          <p:cNvSpPr/>
          <p:nvPr/>
        </p:nvSpPr>
        <p:spPr>
          <a:xfrm>
            <a:off x="685800" y="5440680"/>
            <a:ext cx="914400" cy="310896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0B4113-6788-613A-2BDC-1CBE957B3AE1}"/>
              </a:ext>
            </a:extLst>
          </p:cNvPr>
          <p:cNvSpPr txBox="1"/>
          <p:nvPr/>
        </p:nvSpPr>
        <p:spPr>
          <a:xfrm>
            <a:off x="685800" y="5457852"/>
            <a:ext cx="9144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latin typeface="Aptos"/>
              </a:rPr>
              <a:t>SDG 11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26C93BE5-2E11-3C92-BADC-D5D60527BDF4}"/>
              </a:ext>
            </a:extLst>
          </p:cNvPr>
          <p:cNvSpPr/>
          <p:nvPr/>
        </p:nvSpPr>
        <p:spPr>
          <a:xfrm>
            <a:off x="1737360" y="5440680"/>
            <a:ext cx="9144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6F70C7-D5B3-C419-B4C1-FA68821FE1A7}"/>
              </a:ext>
            </a:extLst>
          </p:cNvPr>
          <p:cNvSpPr txBox="1"/>
          <p:nvPr/>
        </p:nvSpPr>
        <p:spPr>
          <a:xfrm>
            <a:off x="1737360" y="5457852"/>
            <a:ext cx="9144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latin typeface="Aptos"/>
              </a:rPr>
              <a:t>SDG 13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1E51B6-FE05-43C2-B738-EFBAA49D1448}"/>
              </a:ext>
            </a:extLst>
          </p:cNvPr>
          <p:cNvSpPr txBox="1"/>
          <p:nvPr/>
        </p:nvSpPr>
        <p:spPr>
          <a:xfrm>
            <a:off x="2788920" y="5468112"/>
            <a:ext cx="3931920" cy="2491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latin typeface="Aptos"/>
              </a:rPr>
              <a:t>Sustainable Cities &amp; Communities  •  Climate Action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EBE5CA-1DAE-12BE-4F9A-01033156F32E}"/>
              </a:ext>
            </a:extLst>
          </p:cNvPr>
          <p:cNvSpPr txBox="1"/>
          <p:nvPr/>
        </p:nvSpPr>
        <p:spPr>
          <a:xfrm>
            <a:off x="621792" y="6510528"/>
            <a:ext cx="6858000" cy="2183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latin typeface="Aptos"/>
              </a:rPr>
              <a:t>DrainGuard AI  •  1M1B AI for Sustainability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8457E3-4F0C-0676-6E20-92D00100F80D}"/>
              </a:ext>
            </a:extLst>
          </p:cNvPr>
          <p:cNvSpPr txBox="1"/>
          <p:nvPr/>
        </p:nvSpPr>
        <p:spPr>
          <a:xfrm>
            <a:off x="11155680" y="6510528"/>
            <a:ext cx="365760" cy="2183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latin typeface="Aptos"/>
              </a:rPr>
              <a:t>1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75DE8F1-D39B-64E9-6AB6-456EF9F7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496" y="1170432"/>
            <a:ext cx="4132064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78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The Real-World Drainage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A practical infrastructure problem involving visible inlet conditions, field workload and fragmented context.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1307592"/>
            <a:ext cx="3182112" cy="1874519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892040" y="1490472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92040" y="1517904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147218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INLET BLOCKAGE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1929384"/>
            <a:ext cx="278892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Plastic waste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Street sediment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Leaves &amp; organic debris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Mud / silt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65592" y="1307592"/>
            <a:ext cx="3182112" cy="1874519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348471" y="1490472"/>
            <a:ext cx="457200" cy="310896"/>
          </a:xfrm>
          <a:prstGeom prst="roundRect">
            <a:avLst/>
          </a:prstGeom>
          <a:solidFill>
            <a:srgbClr val="2F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48471" y="1517904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97112" y="147218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PATROL BOTTLENECKS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8471" y="1929384"/>
            <a:ext cx="278892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Dispersed drainage locations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Repeated inspection needs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Limited field resources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09160" y="3547872"/>
            <a:ext cx="3182112" cy="1874519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892040" y="3730752"/>
            <a:ext cx="457200" cy="310896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92040" y="3758184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40680" y="3712463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FRAGMENTED FIELD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4169663"/>
            <a:ext cx="278892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Drainage photographs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Rainfall observations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Waterlogging history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65592" y="3547872"/>
            <a:ext cx="3182112" cy="1874519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348471" y="3730752"/>
            <a:ext cx="457200" cy="310896"/>
          </a:xfrm>
          <a:prstGeom prst="round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48471" y="3758184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97112" y="3712463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CIVIC &amp; INFRASTRUCTURE IMPACT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1" y="4169663"/>
            <a:ext cx="278892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Surface water ponding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Mobility disruption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Maintenance burden</a:t>
            </a:r>
          </a:p>
          <a:p>
            <a:pPr>
              <a:spcAft>
                <a:spcPts val="200"/>
              </a:spcAft>
              <a:defRPr sz="1030">
                <a:solidFill>
                  <a:srgbClr val="1F2D3A"/>
                </a:solidFill>
                <a:latin typeface="Aptos"/>
              </a:defRPr>
            </a:pPr>
            <a:r>
              <a:rPr sz="1100" dirty="0"/>
              <a:t>• Local environmental &amp; health concerns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6016752"/>
            <a:ext cx="822960" cy="310896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8368" y="6044184"/>
            <a:ext cx="822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SDG 11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600200" y="6016752"/>
            <a:ext cx="82296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600200" y="6044184"/>
            <a:ext cx="8229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SDG 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97480" y="6035040"/>
            <a:ext cx="5486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6F8292"/>
                </a:solidFill>
                <a:latin typeface="Aptos"/>
              </a:rPr>
              <a:t>No unsupported scale or performance statistics are used.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2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54328528-F4E4-75CF-FF6A-D7F7E557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0" y="1638204"/>
            <a:ext cx="4293618" cy="31506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Current Gaps &amp; Automation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The current prototype is an offline decision-support workflow; AI automation can be added as a future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" y="1280161"/>
            <a:ext cx="5269993" cy="36576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327648" y="1280160"/>
            <a:ext cx="5257800" cy="3657600"/>
          </a:xfrm>
          <a:prstGeom prst="roundRect">
            <a:avLst/>
          </a:prstGeom>
          <a:solidFill>
            <a:srgbClr val="EFF8F6"/>
          </a:solidFill>
          <a:ln w="12700">
            <a:solidFill>
              <a:srgbClr val="BED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" y="1536192"/>
            <a:ext cx="2880360" cy="310896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537975"/>
            <a:ext cx="28803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CONVENTIONAL MANUAL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36192"/>
            <a:ext cx="1965960" cy="310896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37975"/>
            <a:ext cx="19659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DRAINGUARD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45720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Reactive inspection scheduling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Manual photograph review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Subjective qualitative notes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No consistent priority scoring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Rainfall and historical information reviewed separately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Repeated inspection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03120"/>
            <a:ext cx="4526280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Structured screening of visible drainage conditions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Manual condition selection in the current prototype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Transparent 0–100 inspection priority indicator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Combines visual cues + rainfall + historical context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</a:t>
            </a:r>
            <a:r>
              <a:rPr lang="en-IN" sz="1250" dirty="0">
                <a:solidFill>
                  <a:srgbClr val="1F2D3A"/>
                </a:solidFill>
                <a:latin typeface="Aptos"/>
              </a:rPr>
              <a:t>Local knowledge-base retrieval + rule-based guidance</a:t>
            </a:r>
          </a:p>
          <a:p>
            <a:pPr>
              <a:spcAft>
                <a:spcPts val="600"/>
              </a:spcAft>
              <a:defRPr sz="1250">
                <a:solidFill>
                  <a:srgbClr val="1F2D3A"/>
                </a:solidFill>
                <a:latin typeface="Aptos"/>
              </a:defRPr>
            </a:pPr>
            <a:r>
              <a:rPr sz="1200" dirty="0"/>
              <a:t>• Human-in-the-loop inspection prioritization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5989320"/>
            <a:ext cx="9509760" cy="384048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6044184"/>
            <a:ext cx="9235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The prototype standardizes assessment, scoring and field guidance; future vision models can automate condition recognition.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Design Thinking &amp; Problem Framing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1783080" cy="64008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5389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81426"/>
                </a:solidFill>
                <a:latin typeface="Aptos"/>
              </a:rPr>
              <a:t>EMPATHIZE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600200"/>
            <a:ext cx="36576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280160"/>
            <a:ext cx="1783080" cy="64008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6080" y="145389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8FBFD"/>
                </a:solidFill>
                <a:latin typeface="Aptos"/>
              </a:rPr>
              <a:t>DEFINE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600200"/>
            <a:ext cx="36576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280160"/>
            <a:ext cx="1783080" cy="64008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145389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81426"/>
                </a:solidFill>
                <a:latin typeface="Aptos"/>
              </a:rPr>
              <a:t>IDEATE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600200"/>
            <a:ext cx="36576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280160"/>
            <a:ext cx="1783080" cy="64008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45389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81426"/>
                </a:solidFill>
                <a:latin typeface="Aptos"/>
              </a:rPr>
              <a:t>PROTOTYPE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89720" y="1600200"/>
            <a:ext cx="36576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280160"/>
            <a:ext cx="1783080" cy="64008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46920" y="145389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081426"/>
                </a:solidFill>
                <a:latin typeface="Aptos"/>
              </a:rPr>
              <a:t>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331720"/>
            <a:ext cx="10835640" cy="1508760"/>
          </a:xfrm>
          <a:prstGeom prst="roundRect">
            <a:avLst/>
          </a:prstGeom>
          <a:solidFill>
            <a:srgbClr val="EFF6FB"/>
          </a:solidFill>
          <a:ln w="12700">
            <a:solidFill>
              <a:srgbClr val="C9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5786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667B2"/>
                </a:solidFill>
                <a:latin typeface="Aptos"/>
              </a:rPr>
              <a:t>HOW MIGHT WE?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496312"/>
            <a:ext cx="8321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A"/>
                </a:solidFill>
                <a:latin typeface="Aptos"/>
              </a:rPr>
              <a:t>How might we use AI to synthesize visual drainage-condition cues with localized rainfall and historical data, so that municipal maintenance teams can systematically prioritize field inspections during periods of elevated waterlogging risk?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605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81426"/>
                </a:solidFill>
                <a:latin typeface="Aptos"/>
              </a:rPr>
              <a:t>TARGET STAKEHOLDERS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572000"/>
            <a:ext cx="3246120" cy="118872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475488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9769"/>
                </a:solidFill>
                <a:latin typeface="Aptos"/>
              </a:rPr>
              <a:t>Municipal Ward Engineers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102352"/>
            <a:ext cx="28803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8292"/>
                </a:solidFill>
                <a:latin typeface="Aptos"/>
              </a:rPr>
              <a:t>Need multi-source information synthesis for maintenance planning.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4572000"/>
            <a:ext cx="3246120" cy="118872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35424" y="475488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9769"/>
                </a:solidFill>
                <a:latin typeface="Aptos"/>
              </a:rPr>
              <a:t>Sanitation Crew Leaders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5102352"/>
            <a:ext cx="28803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F8292"/>
                </a:solidFill>
                <a:latin typeface="Aptos"/>
              </a:rPr>
              <a:t>Need concise and transparent inspection guidance.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4572000"/>
            <a:ext cx="3246120" cy="118872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3023" y="4754880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9769"/>
                </a:solidFill>
                <a:latin typeface="Aptos"/>
              </a:rPr>
              <a:t>Urban Communities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5102352"/>
            <a:ext cx="28803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F8292"/>
                </a:solidFill>
                <a:latin typeface="Aptos"/>
              </a:rPr>
              <a:t>Benefit from safer and more resilient urban environments.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Why Structured Assessment Instead of Only Manual Notes?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A structured workflow makes observations, context, scoring and field guidance more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81426"/>
                </a:solidFill>
                <a:latin typeface="Aptos"/>
              </a:rPr>
              <a:t>TRADITIONAL RULE-BASED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880360" cy="132588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42316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2D3A"/>
                </a:solidFill>
                <a:latin typeface="Aptos"/>
              </a:rPr>
              <a:t>Rainfall = High
History = Frequent
→ Assign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783080"/>
            <a:ext cx="1124712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9" name="TextBox 8"/>
          <p:cNvSpPr txBox="1"/>
          <p:nvPr/>
        </p:nvSpPr>
        <p:spPr>
          <a:xfrm>
            <a:off x="4023359" y="2011680"/>
            <a:ext cx="103327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02352" y="2304288"/>
            <a:ext cx="164592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85231" y="1783080"/>
            <a:ext cx="1124712" cy="105156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" name="TextBox 11"/>
          <p:cNvSpPr txBox="1"/>
          <p:nvPr/>
        </p:nvSpPr>
        <p:spPr>
          <a:xfrm>
            <a:off x="5330951" y="2011680"/>
            <a:ext cx="103327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dirty="0">
                <a:solidFill>
                  <a:schemeClr val="bg1"/>
                </a:solidFill>
              </a:rPr>
              <a:t>CONDITION</a:t>
            </a:r>
          </a:p>
          <a:p>
            <a:r>
              <a:rPr sz="1200" b="1" dirty="0">
                <a:solidFill>
                  <a:schemeClr val="bg1"/>
                </a:solidFill>
              </a:rPr>
              <a:t>SELECTION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9944" y="2304288"/>
            <a:ext cx="164592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92823" y="1783080"/>
            <a:ext cx="1124712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5" name="TextBox 14"/>
          <p:cNvSpPr txBox="1"/>
          <p:nvPr/>
        </p:nvSpPr>
        <p:spPr>
          <a:xfrm>
            <a:off x="6638543" y="2011680"/>
            <a:ext cx="103327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RAIN + HISTORY
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17536" y="2304288"/>
            <a:ext cx="164591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00416" y="1783080"/>
            <a:ext cx="1124712" cy="105156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8" name="TextBox 17"/>
          <p:cNvSpPr txBox="1"/>
          <p:nvPr/>
        </p:nvSpPr>
        <p:spPr>
          <a:xfrm>
            <a:off x="7946136" y="2011680"/>
            <a:ext cx="103327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BFD"/>
                </a:solidFill>
                <a:latin typeface="Aptos"/>
              </a:rPr>
              <a:t>PRIORITY
INDICATOR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25128" y="2304288"/>
            <a:ext cx="164592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08008" y="1783080"/>
            <a:ext cx="1124712" cy="105156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21" name="TextBox 20"/>
          <p:cNvSpPr txBox="1"/>
          <p:nvPr/>
        </p:nvSpPr>
        <p:spPr>
          <a:xfrm>
            <a:off x="9253728" y="2011680"/>
            <a:ext cx="103327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SOP-BASED GUIDANCE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0332720" y="2304288"/>
            <a:ext cx="164592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515600" y="1783080"/>
            <a:ext cx="1325880" cy="1051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24" name="TextBox 23"/>
          <p:cNvSpPr txBox="1"/>
          <p:nvPr/>
        </p:nvSpPr>
        <p:spPr>
          <a:xfrm>
            <a:off x="10561320" y="2011680"/>
            <a:ext cx="123443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HUMAN
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03320"/>
            <a:ext cx="10744200" cy="1371600"/>
          </a:xfrm>
          <a:prstGeom prst="roundRect">
            <a:avLst/>
          </a:prstGeom>
          <a:solidFill>
            <a:srgbClr val="EFF7F8"/>
          </a:solidFill>
          <a:ln w="12700">
            <a:solidFill>
              <a:srgbClr val="C1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977639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309769"/>
                </a:solidFill>
                <a:latin typeface="Aptos"/>
              </a:rPr>
              <a:t>WHY THIS HELPS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858768"/>
            <a:ext cx="8366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D3A"/>
                </a:solidFill>
                <a:latin typeface="Aptos"/>
              </a:rPr>
              <a:t>A structured form reduces variation in how visible conditions, rainfall and history are recorded and scored across drainage observations.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486400"/>
            <a:ext cx="5715000" cy="310896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5434322"/>
            <a:ext cx="55321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The system recommends — humans verify and 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 err="1">
                <a:solidFill>
                  <a:srgbClr val="081426"/>
                </a:solidFill>
                <a:latin typeface="Aptos"/>
              </a:rPr>
              <a:t>DrainGuard</a:t>
            </a:r>
            <a:r>
              <a:rPr sz="2700" b="1" dirty="0">
                <a:solidFill>
                  <a:srgbClr val="081426"/>
                </a:solidFill>
                <a:latin typeface="Aptos"/>
              </a:rPr>
              <a:t> AI – Proposed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A software-based decision-support prototype that works without external API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129844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120700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FIELD
OBSERVATION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01368" y="2221992"/>
            <a:ext cx="32004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76272" y="1737360"/>
            <a:ext cx="1298448" cy="96012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21991" y="1947672"/>
            <a:ext cx="120700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</a:rPr>
              <a:t>IMAGE</a:t>
            </a:r>
          </a:p>
          <a:p>
            <a:pPr algn="ctr"/>
            <a:r>
              <a:rPr sz="1200" b="1" dirty="0">
                <a:solidFill>
                  <a:schemeClr val="bg1"/>
                </a:solidFill>
              </a:rPr>
              <a:t>REFERENCE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74720" y="2221992"/>
            <a:ext cx="320039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9624" y="1737360"/>
            <a:ext cx="129844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" name="TextBox 11"/>
          <p:cNvSpPr txBox="1"/>
          <p:nvPr/>
        </p:nvSpPr>
        <p:spPr>
          <a:xfrm>
            <a:off x="3895344" y="1947672"/>
            <a:ext cx="120700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CONTEXT
SELECTION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48072" y="2221992"/>
            <a:ext cx="32004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22976" y="1737360"/>
            <a:ext cx="1298448" cy="96012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5" name="TextBox 14"/>
          <p:cNvSpPr txBox="1"/>
          <p:nvPr/>
        </p:nvSpPr>
        <p:spPr>
          <a:xfrm>
            <a:off x="5568696" y="1947672"/>
            <a:ext cx="120700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BFD"/>
                </a:solidFill>
                <a:latin typeface="Aptos"/>
              </a:rPr>
              <a:t>PRIORITY
CALCULATION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21424" y="2221992"/>
            <a:ext cx="32004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96328" y="1737360"/>
            <a:ext cx="1298448" cy="960120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8" name="TextBox 17"/>
          <p:cNvSpPr txBox="1"/>
          <p:nvPr/>
        </p:nvSpPr>
        <p:spPr>
          <a:xfrm>
            <a:off x="7242048" y="1795998"/>
            <a:ext cx="125272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200" b="1" dirty="0">
                <a:solidFill>
                  <a:srgbClr val="F8FBFD"/>
                </a:solidFill>
                <a:latin typeface="Aptos"/>
              </a:rPr>
              <a:t>LOCAL KNOWLEDGE –BASED RETRIVAL</a:t>
            </a:r>
            <a:endParaRPr sz="1200" b="1" dirty="0">
              <a:solidFill>
                <a:srgbClr val="F8FBFD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494776" y="2221992"/>
            <a:ext cx="320039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69680" y="1737360"/>
            <a:ext cx="129844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21" name="TextBox 20"/>
          <p:cNvSpPr txBox="1"/>
          <p:nvPr/>
        </p:nvSpPr>
        <p:spPr>
          <a:xfrm>
            <a:off x="8915400" y="1853566"/>
            <a:ext cx="13075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200" b="1" dirty="0"/>
              <a:t>RETRIEVED SOP GUIDANCE + RULE-BASED CHECKLIST</a:t>
            </a:r>
            <a:endParaRPr lang="en-IN" sz="1200" dirty="0"/>
          </a:p>
        </p:txBody>
      </p:sp>
      <p:cxnSp>
        <p:nvCxnSpPr>
          <p:cNvPr id="22" name="Connector 21"/>
          <p:cNvCxnSpPr/>
          <p:nvPr/>
        </p:nvCxnSpPr>
        <p:spPr>
          <a:xfrm>
            <a:off x="10168128" y="2221992"/>
            <a:ext cx="320040" cy="0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543032" y="1737360"/>
            <a:ext cx="1298448" cy="96012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24" name="TextBox 23"/>
          <p:cNvSpPr txBox="1"/>
          <p:nvPr/>
        </p:nvSpPr>
        <p:spPr>
          <a:xfrm>
            <a:off x="10588752" y="1947672"/>
            <a:ext cx="120700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HUMAN
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37560"/>
            <a:ext cx="10241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Aptos" panose="020B0004020202020204" pitchFamily="34" charset="0"/>
              </a:rPr>
              <a:t>• Accepts a drainage photograph</a:t>
            </a:r>
          </a:p>
          <a:p>
            <a:r>
              <a:rPr sz="1600" dirty="0">
                <a:latin typeface="Aptos" panose="020B0004020202020204" pitchFamily="34" charset="0"/>
              </a:rPr>
              <a:t>• User selects the visible drainage condition</a:t>
            </a:r>
          </a:p>
          <a:p>
            <a:r>
              <a:rPr sz="1600" dirty="0">
                <a:latin typeface="Aptos" panose="020B0004020202020204" pitchFamily="34" charset="0"/>
              </a:rPr>
              <a:t>• Combines visual cues with rainfall context</a:t>
            </a:r>
          </a:p>
          <a:p>
            <a:r>
              <a:rPr sz="1600" dirty="0">
                <a:latin typeface="Aptos" panose="020B0004020202020204" pitchFamily="34" charset="0"/>
              </a:rPr>
              <a:t>• User selects historical waterlogging frequency</a:t>
            </a:r>
          </a:p>
          <a:p>
            <a:r>
              <a:rPr sz="1600" dirty="0">
                <a:latin typeface="Aptos" panose="020B0004020202020204" pitchFamily="34" charset="0"/>
              </a:rPr>
              <a:t>• Calculates a transparent 0–100 priority indicator</a:t>
            </a:r>
          </a:p>
          <a:p>
            <a:r>
              <a:rPr sz="1600" dirty="0">
                <a:latin typeface="Aptos" panose="020B0004020202020204" pitchFamily="34" charset="0"/>
              </a:rPr>
              <a:t>• Uses LOCAL SOP GUIDANCE for grounded guidance</a:t>
            </a:r>
          </a:p>
          <a:p>
            <a:r>
              <a:rPr sz="1600" dirty="0">
                <a:latin typeface="Aptos" panose="020B0004020202020204" pitchFamily="34" charset="0"/>
              </a:rPr>
              <a:t>• Recommends human physical inspection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5806440"/>
            <a:ext cx="8138160" cy="365760"/>
          </a:xfrm>
          <a:prstGeom prst="roundRect">
            <a:avLst/>
          </a:prstGeom>
          <a:solidFill>
            <a:srgbClr val="EFF7F8"/>
          </a:solidFill>
          <a:ln w="12700">
            <a:solidFill>
              <a:srgbClr val="30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40" y="5879592"/>
            <a:ext cx="78638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9769"/>
                </a:solidFill>
                <a:latin typeface="Aptos"/>
              </a:rPr>
              <a:t>Offline prototype • No external API request • Human physical inspection remains final verification.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Visible Condition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The current prototype uses manual selection of visible surface indicators; this does not confirm subsurface blockage or pipe condition.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61872"/>
            <a:ext cx="1600200" cy="438912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" name="TextBox 5"/>
          <p:cNvSpPr txBox="1"/>
          <p:nvPr/>
        </p:nvSpPr>
        <p:spPr>
          <a:xfrm>
            <a:off x="640080" y="1380744"/>
            <a:ext cx="1508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BFD"/>
                </a:solidFill>
                <a:latin typeface="Aptos"/>
              </a:rPr>
              <a:t>Indicator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261872"/>
            <a:ext cx="3886200" cy="438912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TextBox 7"/>
          <p:cNvSpPr txBox="1"/>
          <p:nvPr/>
        </p:nvSpPr>
        <p:spPr>
          <a:xfrm>
            <a:off x="2377439" y="1380744"/>
            <a:ext cx="37947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BFD"/>
                </a:solidFill>
                <a:latin typeface="Aptos"/>
              </a:rPr>
              <a:t>Visible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261872"/>
            <a:ext cx="1737360" cy="438912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6492240" y="1380744"/>
            <a:ext cx="1645919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BFD"/>
                </a:solidFill>
                <a:latin typeface="Aptos"/>
              </a:rPr>
              <a:t>Prototype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1261872"/>
            <a:ext cx="2971800" cy="438912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8595360" y="1380744"/>
            <a:ext cx="28803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BFD"/>
                </a:solidFill>
                <a:latin typeface="Aptos"/>
              </a:rPr>
              <a:t>Initial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10512"/>
            <a:ext cx="16002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2331720" y="1810512"/>
            <a:ext cx="38862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6446520" y="1810512"/>
            <a:ext cx="173736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" name="Rectangle 15"/>
          <p:cNvSpPr/>
          <p:nvPr/>
        </p:nvSpPr>
        <p:spPr>
          <a:xfrm>
            <a:off x="8549640" y="1810512"/>
            <a:ext cx="29718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685800" y="1920240"/>
            <a:ext cx="1417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Clear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920240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Unimpeded visible inlet / runoff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67B2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92024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Routine 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395728"/>
            <a:ext cx="16002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2331720" y="2395728"/>
            <a:ext cx="38862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Rectangle 22"/>
          <p:cNvSpPr/>
          <p:nvPr/>
        </p:nvSpPr>
        <p:spPr>
          <a:xfrm>
            <a:off x="6446520" y="2395728"/>
            <a:ext cx="173736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8549640" y="2395728"/>
            <a:ext cx="29718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685800" y="2505456"/>
            <a:ext cx="1417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Organic Debris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505456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Leaves, branches, loose vegetation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505456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67B2"/>
                </a:solidFill>
                <a:latin typeface="Aptos"/>
              </a:rPr>
              <a:t>+15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505456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Surface sweep / rake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80944"/>
            <a:ext cx="16002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Rectangle 29"/>
          <p:cNvSpPr/>
          <p:nvPr/>
        </p:nvSpPr>
        <p:spPr>
          <a:xfrm>
            <a:off x="2331720" y="2980944"/>
            <a:ext cx="38862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6446520" y="2980944"/>
            <a:ext cx="173736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8549640" y="2980944"/>
            <a:ext cx="29718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685800" y="3090672"/>
            <a:ext cx="1417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Mud &amp; Sediment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90672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Visible silt accumulation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090672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67B2"/>
                </a:solidFill>
                <a:latin typeface="Aptos"/>
              </a:rPr>
              <a:t>+20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090672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Manual desilting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566160"/>
            <a:ext cx="16002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2331720" y="3566160"/>
            <a:ext cx="38862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9" name="Rectangle 38"/>
          <p:cNvSpPr/>
          <p:nvPr/>
        </p:nvSpPr>
        <p:spPr>
          <a:xfrm>
            <a:off x="6446520" y="3566160"/>
            <a:ext cx="173736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Rectangle 39"/>
          <p:cNvSpPr/>
          <p:nvPr/>
        </p:nvSpPr>
        <p:spPr>
          <a:xfrm>
            <a:off x="8549640" y="3566160"/>
            <a:ext cx="29718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685800" y="3675887"/>
            <a:ext cx="1417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Solid Waste / Plastic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675887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Wrappers, bottles, polythene bags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675887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67B2"/>
                </a:solidFill>
                <a:latin typeface="Aptos"/>
              </a:rPr>
              <a:t>+25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3675887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Manual litter removal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151376"/>
            <a:ext cx="16002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Rectangle 45"/>
          <p:cNvSpPr/>
          <p:nvPr/>
        </p:nvSpPr>
        <p:spPr>
          <a:xfrm>
            <a:off x="2331720" y="4151376"/>
            <a:ext cx="38862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7" name="Rectangle 46"/>
          <p:cNvSpPr/>
          <p:nvPr/>
        </p:nvSpPr>
        <p:spPr>
          <a:xfrm>
            <a:off x="6446520" y="4151376"/>
            <a:ext cx="173736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Rectangle 47"/>
          <p:cNvSpPr/>
          <p:nvPr/>
        </p:nvSpPr>
        <p:spPr>
          <a:xfrm>
            <a:off x="8549640" y="4151376"/>
            <a:ext cx="2971800" cy="51206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685800" y="4261104"/>
            <a:ext cx="1417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Standing Water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261104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Visible water pooling around inlet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261104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67B2"/>
                </a:solidFill>
                <a:latin typeface="Aptos"/>
              </a:rPr>
              <a:t>+30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4261104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Inspect inlet &amp; downstream flow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736592"/>
            <a:ext cx="16002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4" name="Rectangle 53"/>
          <p:cNvSpPr/>
          <p:nvPr/>
        </p:nvSpPr>
        <p:spPr>
          <a:xfrm>
            <a:off x="2331720" y="4736592"/>
            <a:ext cx="38862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5" name="Rectangle 54"/>
          <p:cNvSpPr/>
          <p:nvPr/>
        </p:nvSpPr>
        <p:spPr>
          <a:xfrm>
            <a:off x="6446520" y="4736592"/>
            <a:ext cx="173736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6" name="Rectangle 55"/>
          <p:cNvSpPr/>
          <p:nvPr/>
        </p:nvSpPr>
        <p:spPr>
          <a:xfrm>
            <a:off x="8549640" y="4736592"/>
            <a:ext cx="2971800" cy="51206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7" name="TextBox 56"/>
          <p:cNvSpPr txBox="1"/>
          <p:nvPr/>
        </p:nvSpPr>
        <p:spPr>
          <a:xfrm>
            <a:off x="670560" y="4773168"/>
            <a:ext cx="14325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81426"/>
                </a:solidFill>
                <a:latin typeface="Aptos"/>
              </a:rPr>
              <a:t>Heavy Visible Occlusion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23160" y="4846320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Large visible surface obstruction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4846320"/>
            <a:ext cx="1645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667B2"/>
                </a:solidFill>
                <a:latin typeface="Aptos"/>
              </a:rPr>
              <a:t>+40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484632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D3A"/>
                </a:solidFill>
                <a:latin typeface="Aptos"/>
              </a:rPr>
              <a:t>Priority physical inspection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440680"/>
            <a:ext cx="10881360" cy="713232"/>
          </a:xfrm>
          <a:prstGeom prst="roundRect">
            <a:avLst/>
          </a:prstGeom>
          <a:solidFill>
            <a:srgbClr val="FEF6EB"/>
          </a:solidFill>
          <a:ln w="12700"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2" name="TextBox 61"/>
          <p:cNvSpPr txBox="1"/>
          <p:nvPr/>
        </p:nvSpPr>
        <p:spPr>
          <a:xfrm>
            <a:off x="822960" y="5605272"/>
            <a:ext cx="10515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2D3A"/>
                </a:solidFill>
                <a:latin typeface="Aptos"/>
              </a:rPr>
              <a:t>LIMITATION  •  Visual screening evaluates visible surface conditions only. It cannot confirm underground blockage, pipe integrity or subsurface flow.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Context-Aware Priority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Transparent Heuristic Priority Index (0–100)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3886200" cy="11430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BCDA"/>
                </a:solidFill>
                <a:latin typeface="Aptos"/>
              </a:rPr>
              <a:t>Priority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453896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8FBFD"/>
                </a:solidFill>
                <a:latin typeface="Aptos"/>
              </a:rPr>
              <a:t>= S_visual + S_rainfall + S_history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34440"/>
            <a:ext cx="1920240" cy="11430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59" y="1463040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426"/>
                </a:solidFill>
                <a:latin typeface="Aptos"/>
              </a:rPr>
              <a:t>VISUAL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80136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67B2"/>
                </a:solidFill>
                <a:latin typeface="Aptos"/>
              </a:rPr>
              <a:t>0–40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9" y="1234440"/>
            <a:ext cx="1920240" cy="11430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19" y="1463040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426"/>
                </a:solidFill>
                <a:latin typeface="Aptos"/>
              </a:rPr>
              <a:t>RAINFALL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9" y="180136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FBCDA"/>
                </a:solidFill>
                <a:latin typeface="Aptos"/>
              </a:rPr>
              <a:t>0–30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234440"/>
            <a:ext cx="1920240" cy="11430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463040"/>
            <a:ext cx="17373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1426"/>
                </a:solidFill>
                <a:latin typeface="Aptos"/>
              </a:rPr>
              <a:t>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01368"/>
            <a:ext cx="1737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09769"/>
                </a:solidFill>
                <a:latin typeface="Aptos"/>
              </a:rPr>
              <a:t>0–30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1426"/>
                </a:solidFill>
                <a:latin typeface="Aptos"/>
              </a:rPr>
              <a:t>RAINFALL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27248"/>
            <a:ext cx="2926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rPr sz="1100"/>
              <a:t>• Low / Nil = 0</a:t>
            </a:r>
          </a:p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rPr sz="1100"/>
              <a:t>• Moderate = 10</a:t>
            </a:r>
          </a:p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rPr sz="1100"/>
              <a:t>• Heavy = 20</a:t>
            </a:r>
          </a:p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rPr sz="1100"/>
              <a:t>• Very Heavy =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788920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81426"/>
                </a:solidFill>
                <a:latin typeface="Aptos"/>
              </a:rPr>
              <a:t>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127248"/>
            <a:ext cx="2926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t>• None = 0</a:t>
            </a:r>
          </a:p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t>• Occasional = 15</a:t>
            </a:r>
          </a:p>
          <a:p>
            <a:pPr>
              <a:spcAft>
                <a:spcPts val="400"/>
              </a:spcAft>
              <a:defRPr sz="1080">
                <a:solidFill>
                  <a:srgbClr val="1F2D3A"/>
                </a:solidFill>
                <a:latin typeface="Aptos"/>
              </a:defRPr>
            </a:pPr>
            <a:r>
              <a:t>• Frequent Recurring =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788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1426"/>
                </a:solidFill>
                <a:latin typeface="Aptos"/>
              </a:rPr>
              <a:t>PRIORITY TIERS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127248"/>
            <a:ext cx="379476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30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3227832"/>
            <a:ext cx="7315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09769"/>
                </a:solidFill>
                <a:latin typeface="Aptos"/>
              </a:rPr>
              <a:t>0–30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227832"/>
            <a:ext cx="2514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426"/>
                </a:solidFill>
                <a:latin typeface="Aptos"/>
              </a:rPr>
              <a:t>LOW PRIORITY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3712463"/>
            <a:ext cx="379476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3813048"/>
            <a:ext cx="7315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19137"/>
                </a:solidFill>
                <a:latin typeface="Aptos"/>
              </a:rPr>
              <a:t>31–60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813048"/>
            <a:ext cx="2514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426"/>
                </a:solidFill>
                <a:latin typeface="Aptos"/>
              </a:rPr>
              <a:t>MEDIUM PRIORITY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4297680"/>
            <a:ext cx="3794760" cy="457200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C9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4398264"/>
            <a:ext cx="7315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C94848"/>
                </a:solidFill>
                <a:latin typeface="Aptos"/>
              </a:rPr>
              <a:t>61–100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398264"/>
            <a:ext cx="25146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1426"/>
                </a:solidFill>
                <a:latin typeface="Aptos"/>
              </a:rPr>
              <a:t>HIGH INSPECTION PRIORITY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94960"/>
            <a:ext cx="10835640" cy="713232"/>
          </a:xfrm>
          <a:prstGeom prst="roundRect">
            <a:avLst/>
          </a:prstGeom>
          <a:solidFill>
            <a:srgbClr val="EFF7F8"/>
          </a:solidFill>
          <a:ln w="12700">
            <a:solidFill>
              <a:srgbClr val="309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5568696"/>
            <a:ext cx="104241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F2D3A"/>
                </a:solidFill>
                <a:latin typeface="Aptos"/>
              </a:rPr>
              <a:t>PROTOTYPE ASSUMPTION  •  Weights are demonstration assumptions and require empirical calibration using real municipal field datasets.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dirty="0"/>
              <a:t>Local SOP Guidance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A predefined local SOP knowledge base provides concise, consistent field guidance without external API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88720"/>
            <a:ext cx="3931920" cy="512064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" name="TextBox 5"/>
          <p:cNvSpPr txBox="1"/>
          <p:nvPr/>
        </p:nvSpPr>
        <p:spPr>
          <a:xfrm>
            <a:off x="896112" y="1234440"/>
            <a:ext cx="3813048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8FBFD"/>
                </a:solidFill>
                <a:latin typeface="Aptos"/>
              </a:rPr>
              <a:t>Detected Visual Cues
+ Rainfall + History</a:t>
            </a:r>
          </a:p>
        </p:txBody>
      </p:sp>
      <p:cxnSp>
        <p:nvCxnSpPr>
          <p:cNvPr id="7" name="Connector 6"/>
          <p:cNvCxnSpPr>
            <a:cxnSpLocks/>
          </p:cNvCxnSpPr>
          <p:nvPr/>
        </p:nvCxnSpPr>
        <p:spPr>
          <a:xfrm>
            <a:off x="2743200" y="1700784"/>
            <a:ext cx="0" cy="164592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1920240"/>
            <a:ext cx="3931920" cy="512064"/>
          </a:xfrm>
          <a:prstGeom prst="roundRect">
            <a:avLst/>
          </a:prstGeom>
          <a:solidFill>
            <a:srgbClr val="2F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37033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F8FBFD"/>
                </a:solidFill>
                <a:latin typeface="Aptos"/>
              </a:rPr>
              <a:t>LOCAL SOP
LOOKUP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2743200" y="2432304"/>
            <a:ext cx="0" cy="164592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651760"/>
            <a:ext cx="3931920" cy="512064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896112" y="2706624"/>
            <a:ext cx="3813044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Predefined Drainage /
Stormwater SOP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2743200" y="3163824"/>
            <a:ext cx="0" cy="164592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3383280"/>
            <a:ext cx="3931920" cy="512064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TextBox 14"/>
          <p:cNvSpPr txBox="1"/>
          <p:nvPr/>
        </p:nvSpPr>
        <p:spPr>
          <a:xfrm>
            <a:off x="896112" y="3493008"/>
            <a:ext cx="3703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Local Knowledge-Base Retrieval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>
            <a:off x="2743200" y="3895344"/>
            <a:ext cx="0" cy="164592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4114800"/>
            <a:ext cx="3931920" cy="512064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/>
          <p:cNvSpPr txBox="1"/>
          <p:nvPr/>
        </p:nvSpPr>
        <p:spPr>
          <a:xfrm>
            <a:off x="896112" y="4224528"/>
            <a:ext cx="37033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Field Guidance</a:t>
            </a:r>
          </a:p>
        </p:txBody>
      </p:sp>
      <p:cxnSp>
        <p:nvCxnSpPr>
          <p:cNvPr id="19" name="Connector 18"/>
          <p:cNvCxnSpPr>
            <a:cxnSpLocks/>
          </p:cNvCxnSpPr>
          <p:nvPr/>
        </p:nvCxnSpPr>
        <p:spPr>
          <a:xfrm>
            <a:off x="2743200" y="4626864"/>
            <a:ext cx="0" cy="164592"/>
          </a:xfrm>
          <a:prstGeom prst="line">
            <a:avLst/>
          </a:prstGeom>
          <a:ln w="19050">
            <a:solidFill>
              <a:srgbClr val="26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4846320"/>
            <a:ext cx="3931920" cy="512064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1" name="TextBox 20"/>
          <p:cNvSpPr txBox="1"/>
          <p:nvPr/>
        </p:nvSpPr>
        <p:spPr>
          <a:xfrm>
            <a:off x="896112" y="4956048"/>
            <a:ext cx="37033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Human Inspection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1234440"/>
            <a:ext cx="5989320" cy="182880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0680" y="148132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67B2"/>
                </a:solidFill>
                <a:latin typeface="Aptos"/>
              </a:rPr>
              <a:t>SAMPLE INPUT  •  ASSET DR-001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1847088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D3A"/>
                </a:solidFill>
                <a:latin typeface="Aptos"/>
              </a:rPr>
              <a:t>Condition: Standing Water
Rainfall: Heavy
History: Frequent Recurring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429000"/>
            <a:ext cx="5989320" cy="2103120"/>
          </a:xfrm>
          <a:prstGeom prst="roundRect">
            <a:avLst/>
          </a:prstGeom>
          <a:solidFill>
            <a:srgbClr val="EFF7F8"/>
          </a:solidFill>
          <a:ln w="12700">
            <a:solidFill>
              <a:srgbClr val="C1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3675887"/>
            <a:ext cx="49377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rgbClr val="00B050"/>
                </a:solidFill>
              </a:rPr>
              <a:t>RULE-BASED FIELD GUIDANCE</a:t>
            </a:r>
            <a:endParaRPr sz="1400" b="1" dirty="0">
              <a:solidFill>
                <a:srgbClr val="00B05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40680" y="4041648"/>
            <a:ext cx="521208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1F2D3A"/>
                </a:solidFill>
                <a:latin typeface="Aptos"/>
              </a:rPr>
              <a:t>“Observed standing water combined with heavy rainfall indicates elevated risk of street ponding. Field inspection is recommended to verify grate clearance, clear perimeter debris, and confirm downstream drainage flow.”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1536192"/>
            <a:ext cx="1143000" cy="310896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1563624"/>
            <a:ext cx="11430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Local SOP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1536192"/>
            <a:ext cx="640080" cy="310896"/>
          </a:xfrm>
          <a:prstGeom prst="roundRect">
            <a:avLst/>
          </a:prstGeom>
          <a:solidFill>
            <a:srgbClr val="2F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87000" y="1563624"/>
            <a:ext cx="6400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81426"/>
                </a:solidFill>
                <a:latin typeface="Aptos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E0F50-03D6-4D96-961D-ECA31AC2A278}"/>
              </a:ext>
            </a:extLst>
          </p:cNvPr>
          <p:cNvSpPr txBox="1"/>
          <p:nvPr/>
        </p:nvSpPr>
        <p:spPr>
          <a:xfrm>
            <a:off x="275303" y="177101"/>
            <a:ext cx="617465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AI ELEMENTS &amp; TECHNOLOGIES USED</a:t>
            </a:r>
          </a:p>
          <a:p>
            <a:pPr>
              <a:buNone/>
            </a:pPr>
            <a:endParaRPr lang="en-IN" b="1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CURRENT PROTOTYPE</a:t>
            </a:r>
          </a:p>
          <a:p>
            <a:pPr>
              <a:buNone/>
            </a:pPr>
            <a:endParaRPr lang="en-IN" sz="1600" b="1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LOCAL KNOWLEDGE-BASE RETRIEVAL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RAG retrieval searches relevant .txt/.md drainage guidance based on condition and priority.</a:t>
            </a:r>
          </a:p>
          <a:p>
            <a:pPr>
              <a:buNone/>
            </a:pP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RULE-BASED PRIORITY ENGINE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Combines visible condition, rainfall and history into a transparent 0–100 indicator.</a:t>
            </a:r>
          </a:p>
          <a:p>
            <a:pPr>
              <a:buNone/>
            </a:pP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RULE-BASED GUIDANCE ENGINE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Uses predefined offline templates to produce field checklists.</a:t>
            </a:r>
          </a:p>
          <a:p>
            <a:pPr>
              <a:buNone/>
            </a:pP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HUMAN-IN-THE-LOOP</a:t>
            </a:r>
            <a:br>
              <a:rPr lang="en-IN" sz="1600" dirty="0">
                <a:latin typeface="Aptos" panose="020B0004020202020204" pitchFamily="34" charset="0"/>
              </a:rPr>
            </a:br>
            <a:r>
              <a:rPr lang="en-IN" sz="1600" dirty="0">
                <a:latin typeface="Aptos" panose="020B0004020202020204" pitchFamily="34" charset="0"/>
              </a:rPr>
              <a:t>Human personnel physically verify the drainage condition before maintenance.</a:t>
            </a:r>
          </a:p>
          <a:p>
            <a:pPr>
              <a:buNone/>
            </a:pPr>
            <a:endParaRPr lang="en-IN" sz="16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IN" sz="1600" b="1" dirty="0">
                <a:latin typeface="Aptos" panose="020B0004020202020204" pitchFamily="34" charset="0"/>
              </a:rPr>
              <a:t>FUTURE AI ENHANCEMENT</a:t>
            </a: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Computer Vision → Automatic visible-condition recognition</a:t>
            </a:r>
          </a:p>
          <a:p>
            <a:pPr>
              <a:buNone/>
            </a:pPr>
            <a:r>
              <a:rPr lang="en-IN" sz="1600" dirty="0">
                <a:latin typeface="Aptos" panose="020B0004020202020204" pitchFamily="34" charset="0"/>
              </a:rPr>
              <a:t>LLM + RAG → Generative grounded guidance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5A70F-9E53-E14A-C5D0-5F917428B3FC}"/>
              </a:ext>
            </a:extLst>
          </p:cNvPr>
          <p:cNvSpPr/>
          <p:nvPr/>
        </p:nvSpPr>
        <p:spPr>
          <a:xfrm>
            <a:off x="7010400" y="892302"/>
            <a:ext cx="4306529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F6BD4-8642-4E93-1187-3B3B642AB94E}"/>
              </a:ext>
            </a:extLst>
          </p:cNvPr>
          <p:cNvSpPr/>
          <p:nvPr/>
        </p:nvSpPr>
        <p:spPr>
          <a:xfrm>
            <a:off x="7010401" y="1429938"/>
            <a:ext cx="4306527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F5A1EC-90F9-0375-B329-D5EBAFC2FBA6}"/>
              </a:ext>
            </a:extLst>
          </p:cNvPr>
          <p:cNvSpPr/>
          <p:nvPr/>
        </p:nvSpPr>
        <p:spPr>
          <a:xfrm>
            <a:off x="7010401" y="2030362"/>
            <a:ext cx="4306528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5134A4-5CD1-015F-CBFD-C07FE6E206DA}"/>
              </a:ext>
            </a:extLst>
          </p:cNvPr>
          <p:cNvSpPr/>
          <p:nvPr/>
        </p:nvSpPr>
        <p:spPr>
          <a:xfrm>
            <a:off x="7010401" y="2512240"/>
            <a:ext cx="4306528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A2CCC1-04D8-BD17-E280-A38FE2F452C0}"/>
              </a:ext>
            </a:extLst>
          </p:cNvPr>
          <p:cNvSpPr/>
          <p:nvPr/>
        </p:nvSpPr>
        <p:spPr>
          <a:xfrm>
            <a:off x="7010399" y="3898539"/>
            <a:ext cx="4306527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98C99-EBA0-AC78-31B1-E783E053BBB7}"/>
              </a:ext>
            </a:extLst>
          </p:cNvPr>
          <p:cNvSpPr/>
          <p:nvPr/>
        </p:nvSpPr>
        <p:spPr>
          <a:xfrm>
            <a:off x="7010400" y="4451579"/>
            <a:ext cx="4306526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E020BC-C6F8-3878-0D1E-173C06861DB7}"/>
              </a:ext>
            </a:extLst>
          </p:cNvPr>
          <p:cNvSpPr/>
          <p:nvPr/>
        </p:nvSpPr>
        <p:spPr>
          <a:xfrm>
            <a:off x="7010400" y="4980038"/>
            <a:ext cx="4306526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B8BEBB-0636-A8B2-DA8C-3C5CAF5C2B76}"/>
              </a:ext>
            </a:extLst>
          </p:cNvPr>
          <p:cNvSpPr/>
          <p:nvPr/>
        </p:nvSpPr>
        <p:spPr>
          <a:xfrm>
            <a:off x="7010400" y="5625268"/>
            <a:ext cx="4306526" cy="3760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FE651-23C3-D5AA-8308-81DA67DA1294}"/>
              </a:ext>
            </a:extLst>
          </p:cNvPr>
          <p:cNvSpPr/>
          <p:nvPr/>
        </p:nvSpPr>
        <p:spPr>
          <a:xfrm>
            <a:off x="7010400" y="3065280"/>
            <a:ext cx="4306528" cy="65627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2635E-0470-D412-9E9A-1563B1FDA70E}"/>
              </a:ext>
            </a:extLst>
          </p:cNvPr>
          <p:cNvSpPr txBox="1"/>
          <p:nvPr/>
        </p:nvSpPr>
        <p:spPr>
          <a:xfrm>
            <a:off x="6862916" y="892303"/>
            <a:ext cx="44540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📷 DRAINAGE IMAGE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👤 VISIBLE CONDITION SELECTION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🌧️ RAINFALL + WATERLOGGING HISTORY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🧮 PRIORITY INDEX (0–100)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🔎 LOCAL KNOWLEDGE-BASE RETRIEVAL</a:t>
            </a:r>
          </a:p>
          <a:p>
            <a:pPr algn="ctr"/>
            <a:r>
              <a:rPr lang="en-IN" dirty="0"/>
              <a:t>       (RAG RETRIEVAL)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📚 RELEVANT SOP GUIDANCE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⚙️ RULE-BASED GUIDANCE ENGINE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📋 FIELD CHECKLIST</a:t>
            </a:r>
          </a:p>
          <a:p>
            <a:pPr algn="ctr"/>
            <a:r>
              <a:rPr lang="en-IN" dirty="0"/>
              <a:t>        ↓</a:t>
            </a:r>
          </a:p>
          <a:p>
            <a:pPr algn="ctr"/>
            <a:r>
              <a:rPr lang="en-IN" dirty="0"/>
              <a:t>👷 HUMAN PHYSICAL VERIFICATION</a:t>
            </a:r>
          </a:p>
        </p:txBody>
      </p:sp>
    </p:spTree>
    <p:extLst>
      <p:ext uri="{BB962C8B-B14F-4D97-AF65-F5344CB8AC3E}">
        <p14:creationId xmlns:p14="http://schemas.microsoft.com/office/powerpoint/2010/main" val="42807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Prototype Interface &amp; Workflow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Python + Streamlit  •  Prototype / Demonstration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537960" cy="48920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81426"/>
                </a:solidFill>
                <a:latin typeface="Aptos"/>
              </a:rPr>
              <a:t>DRAINGUARD AI  /  SCREENING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6F8292"/>
                </a:solidFill>
                <a:latin typeface="Aptos"/>
              </a:rPr>
              <a:t>Asset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76272"/>
            <a:ext cx="1600200" cy="43891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95144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81426"/>
                </a:solidFill>
                <a:latin typeface="Aptos"/>
              </a:rPr>
              <a:t>DR-001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202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6F8292"/>
                </a:solidFill>
                <a:latin typeface="Aptos"/>
              </a:rPr>
              <a:t>Rainfall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176272"/>
            <a:ext cx="1600200" cy="43891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2295144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81426"/>
                </a:solidFill>
                <a:latin typeface="Aptos"/>
              </a:rPr>
              <a:t>Heavy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6F8292"/>
                </a:solidFill>
                <a:latin typeface="Aptos"/>
              </a:rPr>
              <a:t>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176272"/>
            <a:ext cx="1600200" cy="43891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295144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81426"/>
                </a:solidFill>
                <a:latin typeface="Aptos"/>
              </a:rPr>
              <a:t>Frequent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24912"/>
            <a:ext cx="123444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752344"/>
            <a:ext cx="12344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ANALYZE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73552"/>
            <a:ext cx="2788920" cy="20574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538728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FBCDA"/>
                </a:solidFill>
                <a:latin typeface="Aptos"/>
              </a:rPr>
              <a:t>PRIORITY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86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8FBFD"/>
                </a:solidFill>
                <a:latin typeface="Aptos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48056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BCDA"/>
                </a:solidFill>
                <a:latin typeface="Aptos"/>
              </a:rPr>
              <a:t>80 /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273552"/>
            <a:ext cx="2788920" cy="205740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0" y="3538728"/>
            <a:ext cx="2331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09769"/>
                </a:solidFill>
                <a:latin typeface="Aptos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77639"/>
            <a:ext cx="2331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81426"/>
                </a:solidFill>
                <a:latin typeface="Aptos"/>
              </a:rPr>
              <a:t>Physical verification
recommended.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5989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6F8292"/>
                </a:solidFill>
                <a:latin typeface="Aptos"/>
              </a:rPr>
              <a:t>Upload image → enter context → analyze → review → physically verify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234440"/>
            <a:ext cx="4023360" cy="4892040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C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153619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81426"/>
                </a:solidFill>
                <a:latin typeface="Aptos"/>
              </a:rPr>
              <a:t>INTERFACE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0243" y="1979676"/>
            <a:ext cx="3246120" cy="215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Upload drainage image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Asset ID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Rainfall condition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Historical waterlogging frequency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Analyze button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Priority assessment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Priority score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Explanation</a:t>
            </a:r>
          </a:p>
          <a:p>
            <a:pPr>
              <a:spcAft>
                <a:spcPts val="500"/>
              </a:spcAft>
              <a:defRPr sz="1120">
                <a:solidFill>
                  <a:srgbClr val="1F2D3A"/>
                </a:solidFill>
                <a:latin typeface="Aptos"/>
              </a:defRPr>
            </a:pPr>
            <a:r>
              <a:rPr dirty="0"/>
              <a:t>• Recommended inspection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5532120"/>
            <a:ext cx="3291840" cy="310896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5559552"/>
            <a:ext cx="32918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PROTOTYPE / DEMONSTRATION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Prototype Verification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Deterministic score generation is verified; real-world performance requires representative field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502920" cy="4572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" name="TextBox 5"/>
          <p:cNvSpPr txBox="1"/>
          <p:nvPr/>
        </p:nvSpPr>
        <p:spPr>
          <a:xfrm>
            <a:off x="576072" y="1417320"/>
            <a:ext cx="44805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298448"/>
            <a:ext cx="4983480" cy="4572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" name="TextBox 7"/>
          <p:cNvSpPr txBox="1"/>
          <p:nvPr/>
        </p:nvSpPr>
        <p:spPr>
          <a:xfrm>
            <a:off x="1261872" y="1417320"/>
            <a:ext cx="49286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Scenario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98448"/>
            <a:ext cx="1783080" cy="4572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6428232" y="1417320"/>
            <a:ext cx="17282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Expected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298448"/>
            <a:ext cx="1463040" cy="4572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8485632" y="1417320"/>
            <a:ext cx="140817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Calculated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298448"/>
            <a:ext cx="1417320" cy="457200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4" name="TextBox 13"/>
          <p:cNvSpPr txBox="1"/>
          <p:nvPr/>
        </p:nvSpPr>
        <p:spPr>
          <a:xfrm>
            <a:off x="10131552" y="1417320"/>
            <a:ext cx="136245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56231"/>
            <a:ext cx="50292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6" name="Rectangle 15"/>
          <p:cNvSpPr/>
          <p:nvPr/>
        </p:nvSpPr>
        <p:spPr>
          <a:xfrm>
            <a:off x="1234440" y="1856231"/>
            <a:ext cx="498348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7" name="Rectangle 16"/>
          <p:cNvSpPr/>
          <p:nvPr/>
        </p:nvSpPr>
        <p:spPr>
          <a:xfrm>
            <a:off x="6400800" y="1856231"/>
            <a:ext cx="178308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Rectangle 17"/>
          <p:cNvSpPr/>
          <p:nvPr/>
        </p:nvSpPr>
        <p:spPr>
          <a:xfrm>
            <a:off x="8458200" y="1856231"/>
            <a:ext cx="146304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Rectangle 18"/>
          <p:cNvSpPr/>
          <p:nvPr/>
        </p:nvSpPr>
        <p:spPr>
          <a:xfrm>
            <a:off x="10104120" y="1856231"/>
            <a:ext cx="141732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442452" y="1988708"/>
            <a:ext cx="746268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081426"/>
                </a:solidFill>
                <a:latin typeface="Aptos"/>
              </a:rPr>
              <a:t>TC-01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1993391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Clear Grate (0) + Low Rain (0) + No History (0)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66543"/>
            <a:ext cx="1600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F8292"/>
                </a:solidFill>
                <a:latin typeface="Apto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066543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67B2"/>
                </a:solidFill>
                <a:latin typeface="Aptos"/>
              </a:rPr>
              <a:t>Low (0/100)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2066543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9769"/>
                </a:solidFill>
                <a:latin typeface="Aptos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60903"/>
            <a:ext cx="50292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Rectangle 25"/>
          <p:cNvSpPr/>
          <p:nvPr/>
        </p:nvSpPr>
        <p:spPr>
          <a:xfrm>
            <a:off x="1234440" y="2660903"/>
            <a:ext cx="498348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Rectangle 26"/>
          <p:cNvSpPr/>
          <p:nvPr/>
        </p:nvSpPr>
        <p:spPr>
          <a:xfrm>
            <a:off x="6400800" y="2660903"/>
            <a:ext cx="178308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Rectangle 27"/>
          <p:cNvSpPr/>
          <p:nvPr/>
        </p:nvSpPr>
        <p:spPr>
          <a:xfrm>
            <a:off x="8458200" y="2660903"/>
            <a:ext cx="146304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9" name="Rectangle 28"/>
          <p:cNvSpPr/>
          <p:nvPr/>
        </p:nvSpPr>
        <p:spPr>
          <a:xfrm>
            <a:off x="10104120" y="2660903"/>
            <a:ext cx="141732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0" name="TextBox 29"/>
          <p:cNvSpPr txBox="1"/>
          <p:nvPr/>
        </p:nvSpPr>
        <p:spPr>
          <a:xfrm>
            <a:off x="68827" y="2880359"/>
            <a:ext cx="149450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081426"/>
                </a:solidFill>
                <a:latin typeface="Aptos"/>
              </a:rPr>
              <a:t>TC-02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2798063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Organic Debris (15) + Moderate Rain (10) + No History (0)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871215"/>
            <a:ext cx="1600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F8292"/>
                </a:solidFill>
                <a:latin typeface="Aptos"/>
              </a:rPr>
              <a:t>Low / Med Border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2871215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67B2"/>
                </a:solidFill>
                <a:latin typeface="Aptos"/>
              </a:rPr>
              <a:t>Low (25/100)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871215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9769"/>
                </a:solidFill>
                <a:latin typeface="Aptos"/>
              </a:rPr>
              <a:t>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465576"/>
            <a:ext cx="50292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6" name="Rectangle 35"/>
          <p:cNvSpPr/>
          <p:nvPr/>
        </p:nvSpPr>
        <p:spPr>
          <a:xfrm>
            <a:off x="1234440" y="3465576"/>
            <a:ext cx="498348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7" name="Rectangle 36"/>
          <p:cNvSpPr/>
          <p:nvPr/>
        </p:nvSpPr>
        <p:spPr>
          <a:xfrm>
            <a:off x="6400800" y="3465576"/>
            <a:ext cx="178308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8" name="Rectangle 37"/>
          <p:cNvSpPr/>
          <p:nvPr/>
        </p:nvSpPr>
        <p:spPr>
          <a:xfrm>
            <a:off x="8458200" y="3465576"/>
            <a:ext cx="146304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9" name="Rectangle 38"/>
          <p:cNvSpPr/>
          <p:nvPr/>
        </p:nvSpPr>
        <p:spPr>
          <a:xfrm>
            <a:off x="10104120" y="3465576"/>
            <a:ext cx="1417320" cy="694944"/>
          </a:xfrm>
          <a:prstGeom prst="rect">
            <a:avLst/>
          </a:prstGeom>
          <a:solidFill>
            <a:srgbClr val="F8FAFB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0" name="TextBox 39"/>
          <p:cNvSpPr txBox="1"/>
          <p:nvPr/>
        </p:nvSpPr>
        <p:spPr>
          <a:xfrm>
            <a:off x="403811" y="3664649"/>
            <a:ext cx="82355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081426"/>
                </a:solidFill>
                <a:latin typeface="Aptos"/>
              </a:rPr>
              <a:t>TC-03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3312" y="3602736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Solid Waste (25) + High Rain (20) + Occasional History (15)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675888"/>
            <a:ext cx="1600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F8292"/>
                </a:solidFill>
                <a:latin typeface="Aptos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352" y="3675888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67B2"/>
                </a:solidFill>
                <a:latin typeface="Aptos"/>
              </a:rPr>
              <a:t>Medium (60/100)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675888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9769"/>
                </a:solidFill>
                <a:latin typeface="Aptos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270248"/>
            <a:ext cx="50292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6" name="Rectangle 45"/>
          <p:cNvSpPr/>
          <p:nvPr/>
        </p:nvSpPr>
        <p:spPr>
          <a:xfrm>
            <a:off x="1234440" y="4270248"/>
            <a:ext cx="498348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7" name="Rectangle 46"/>
          <p:cNvSpPr/>
          <p:nvPr/>
        </p:nvSpPr>
        <p:spPr>
          <a:xfrm>
            <a:off x="6400800" y="4270248"/>
            <a:ext cx="178308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8" name="Rectangle 47"/>
          <p:cNvSpPr/>
          <p:nvPr/>
        </p:nvSpPr>
        <p:spPr>
          <a:xfrm>
            <a:off x="8458200" y="4270248"/>
            <a:ext cx="146304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9" name="Rectangle 48"/>
          <p:cNvSpPr/>
          <p:nvPr/>
        </p:nvSpPr>
        <p:spPr>
          <a:xfrm>
            <a:off x="10104120" y="4270248"/>
            <a:ext cx="1417320" cy="694944"/>
          </a:xfrm>
          <a:prstGeom prst="rect">
            <a:avLst/>
          </a:prstGeom>
          <a:solidFill>
            <a:srgbClr val="F0F5F8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0" name="TextBox 49"/>
          <p:cNvSpPr txBox="1"/>
          <p:nvPr/>
        </p:nvSpPr>
        <p:spPr>
          <a:xfrm>
            <a:off x="392602" y="4489704"/>
            <a:ext cx="82355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081426"/>
                </a:solidFill>
                <a:latin typeface="Aptos"/>
              </a:rPr>
              <a:t>TC-04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53312" y="4407408"/>
            <a:ext cx="4754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Standing Water (30) + Heavy Rain (20) + Frequent History (30)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480560"/>
            <a:ext cx="1600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F8292"/>
                </a:solidFill>
                <a:latin typeface="Aptos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1352" y="4480560"/>
            <a:ext cx="1371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667B2"/>
                </a:solidFill>
                <a:latin typeface="Aptos"/>
              </a:rPr>
              <a:t>High (80/100)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480560"/>
            <a:ext cx="13258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9769"/>
                </a:solidFill>
                <a:latin typeface="Aptos"/>
              </a:rPr>
              <a:t>PASS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" y="5349240"/>
            <a:ext cx="10561320" cy="685800"/>
          </a:xfrm>
          <a:prstGeom prst="roundRect">
            <a:avLst/>
          </a:prstGeom>
          <a:solidFill>
            <a:srgbClr val="FEF6EB"/>
          </a:solidFill>
          <a:ln w="12700">
            <a:solidFill>
              <a:srgbClr val="E1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5532120"/>
            <a:ext cx="10195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1">
                <a:solidFill>
                  <a:srgbClr val="1F2D3A"/>
                </a:solidFill>
                <a:latin typeface="Aptos"/>
              </a:rPr>
              <a:t>DEMONSTRATION TEST CASES  •  Unit testing validates predictable priority-index calculation. Field performance still requires representative data.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Responsible AI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Design safeguards keep the prototype transparent, bounded and human-supervised.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3429000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" name="Rounded Rectangle 5"/>
          <p:cNvSpPr/>
          <p:nvPr/>
        </p:nvSpPr>
        <p:spPr>
          <a:xfrm>
            <a:off x="868680" y="1536192"/>
            <a:ext cx="1600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" name="TextBox 6"/>
          <p:cNvSpPr txBox="1"/>
          <p:nvPr/>
        </p:nvSpPr>
        <p:spPr>
          <a:xfrm>
            <a:off x="868680" y="1537975"/>
            <a:ext cx="1600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2971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Apply consistent screening criteria across locations and datasets.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53312"/>
            <a:ext cx="3429000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Rounded Rectangle 9"/>
          <p:cNvSpPr/>
          <p:nvPr/>
        </p:nvSpPr>
        <p:spPr>
          <a:xfrm>
            <a:off x="4663440" y="1536192"/>
            <a:ext cx="1600200" cy="310896"/>
          </a:xfrm>
          <a:prstGeom prst="roundRect">
            <a:avLst/>
          </a:prstGeom>
          <a:solidFill>
            <a:srgbClr val="2F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1" name="TextBox 10"/>
          <p:cNvSpPr txBox="1"/>
          <p:nvPr/>
        </p:nvSpPr>
        <p:spPr>
          <a:xfrm>
            <a:off x="4663440" y="1537975"/>
            <a:ext cx="1600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84832"/>
            <a:ext cx="2971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Show the selected factors and score contribution.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53312"/>
            <a:ext cx="3429000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4" name="Rounded Rectangle 13"/>
          <p:cNvSpPr/>
          <p:nvPr/>
        </p:nvSpPr>
        <p:spPr>
          <a:xfrm>
            <a:off x="8458200" y="1536192"/>
            <a:ext cx="1600200" cy="310896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TextBox 14"/>
          <p:cNvSpPr txBox="1"/>
          <p:nvPr/>
        </p:nvSpPr>
        <p:spPr>
          <a:xfrm>
            <a:off x="8458200" y="1537975"/>
            <a:ext cx="1600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ETHICS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84832"/>
            <a:ext cx="2971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Avoid misleading claims and do not present indicators as 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64992"/>
            <a:ext cx="3429000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Rounded Rectangle 17"/>
          <p:cNvSpPr/>
          <p:nvPr/>
        </p:nvSpPr>
        <p:spPr>
          <a:xfrm>
            <a:off x="868680" y="3547872"/>
            <a:ext cx="1600200" cy="310896"/>
          </a:xfrm>
          <a:prstGeom prst="roundRect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9" name="TextBox 18"/>
          <p:cNvSpPr txBox="1"/>
          <p:nvPr/>
        </p:nvSpPr>
        <p:spPr>
          <a:xfrm>
            <a:off x="868680" y="3549655"/>
            <a:ext cx="1600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96512"/>
            <a:ext cx="2971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Avoid unnecessary personal or sensitive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64992"/>
            <a:ext cx="3429000" cy="16276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2" name="Rounded Rectangle 21"/>
          <p:cNvSpPr/>
          <p:nvPr/>
        </p:nvSpPr>
        <p:spPr>
          <a:xfrm>
            <a:off x="4663440" y="3547872"/>
            <a:ext cx="1600200" cy="310896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3" name="TextBox 22"/>
          <p:cNvSpPr txBox="1"/>
          <p:nvPr/>
        </p:nvSpPr>
        <p:spPr>
          <a:xfrm>
            <a:off x="4663440" y="3549655"/>
            <a:ext cx="16002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HUMAN OVERSIGHT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096512"/>
            <a:ext cx="29718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D3A"/>
                </a:solidFill>
                <a:latin typeface="Aptos"/>
              </a:rPr>
              <a:t>People physically verify conditions before maintenance 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5486400"/>
            <a:ext cx="7498079" cy="512064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68880" y="5605272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BFD"/>
                </a:solidFill>
                <a:latin typeface="Aptos"/>
              </a:rPr>
              <a:t>AI recommends. Humans verify and decide.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F8292"/>
                </a:solidFill>
                <a:latin typeface="Aptos"/>
              </a:rPr>
              <a:t>Potential value areas — not measured performance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2514600" cy="3337560"/>
          </a:xfrm>
          <a:prstGeom prst="roundRect">
            <a:avLst/>
          </a:prstGeom>
          <a:solidFill>
            <a:srgbClr val="F6F9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72768" y="1810512"/>
            <a:ext cx="658368" cy="658368"/>
          </a:xfrm>
          <a:prstGeom prst="ellipse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193852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BF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73552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F2D3A"/>
                </a:solidFill>
                <a:latin typeface="Aptos"/>
              </a:rPr>
              <a:t>Faster initial screening of drainage observations.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81328"/>
            <a:ext cx="2514600" cy="3337560"/>
          </a:xfrm>
          <a:prstGeom prst="roundRect">
            <a:avLst/>
          </a:prstGeom>
          <a:solidFill>
            <a:srgbClr val="F6F9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61688" y="1810512"/>
            <a:ext cx="658368" cy="658368"/>
          </a:xfrm>
          <a:prstGeom prst="ellipse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93852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BFD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7432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ENVIRONMENTAL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273552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F2D3A"/>
                </a:solidFill>
                <a:latin typeface="Aptos"/>
              </a:rPr>
              <a:t>Supports preparedness for rainfall-related drainage issues.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81328"/>
            <a:ext cx="2514600" cy="3337560"/>
          </a:xfrm>
          <a:prstGeom prst="roundRect">
            <a:avLst/>
          </a:prstGeom>
          <a:solidFill>
            <a:srgbClr val="F6F9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50608" y="1810512"/>
            <a:ext cx="658368" cy="658368"/>
          </a:xfrm>
          <a:prstGeom prst="ellipse">
            <a:avLst/>
          </a:prstGeom>
          <a:solidFill>
            <a:srgbClr val="2FB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50608" y="193852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BFD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73552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F2D3A"/>
                </a:solidFill>
                <a:latin typeface="Aptos"/>
              </a:rPr>
              <a:t>Supports safer and more resilient urban communities.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481328"/>
            <a:ext cx="2514600" cy="3337560"/>
          </a:xfrm>
          <a:prstGeom prst="roundRect">
            <a:avLst/>
          </a:prstGeom>
          <a:solidFill>
            <a:srgbClr val="F6F9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939527" y="1810512"/>
            <a:ext cx="658368" cy="658368"/>
          </a:xfrm>
          <a:prstGeom prst="ellipse">
            <a:avLst/>
          </a:prstGeom>
          <a:solidFill>
            <a:srgbClr val="E1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39527" y="193852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BFD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27432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81426"/>
                </a:solidFill>
                <a:latin typeface="Aptos"/>
              </a:rPr>
              <a:t>RESOURCE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7" y="3273552"/>
            <a:ext cx="2103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1F2D3A"/>
                </a:solidFill>
                <a:latin typeface="Aptos"/>
              </a:rPr>
              <a:t>Helps organize limited inspection and maintenance effort.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5166360"/>
            <a:ext cx="914400" cy="310896"/>
          </a:xfrm>
          <a:prstGeom prst="roundRect">
            <a:avLst/>
          </a:prstGeom>
          <a:solidFill>
            <a:srgbClr val="309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6" name="TextBox 25"/>
          <p:cNvSpPr txBox="1"/>
          <p:nvPr/>
        </p:nvSpPr>
        <p:spPr>
          <a:xfrm>
            <a:off x="3977639" y="5168143"/>
            <a:ext cx="9144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SDG 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5166360"/>
            <a:ext cx="9144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TextBox 27"/>
          <p:cNvSpPr txBox="1"/>
          <p:nvPr/>
        </p:nvSpPr>
        <p:spPr>
          <a:xfrm>
            <a:off x="5029200" y="5168143"/>
            <a:ext cx="9144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FBFD"/>
                </a:solidFill>
                <a:latin typeface="Aptos"/>
              </a:rPr>
              <a:t>SDG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596128"/>
            <a:ext cx="8778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>
                <a:solidFill>
                  <a:srgbClr val="6F8292"/>
                </a:solidFill>
                <a:latin typeface="Aptos"/>
              </a:rPr>
              <a:t>No percentage improvement, accuracy or user-count claims are made without actual experiments.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81426"/>
                </a:solidFill>
                <a:latin typeface="Aptos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Future scope only — these capabilities are not currently implemented.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98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1554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96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Larger locally representative drainage image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98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82512" y="1554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581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4996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Empirical calibration of priority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41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0392" y="2697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724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426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GIS-based ward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41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82512" y="2697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724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426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Live weather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84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0392" y="3840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867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85615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Mobile / offline field application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84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82512" y="3840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3867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785615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Bengali and multilingual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27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0392" y="4983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010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9286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Continuous AI evaluation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727448"/>
            <a:ext cx="5074920" cy="868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2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82512" y="4983480"/>
            <a:ext cx="457200" cy="310896"/>
          </a:xfrm>
          <a:prstGeom prst="roundRect">
            <a:avLst/>
          </a:prstGeom>
          <a:solidFill>
            <a:srgbClr val="26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5010912"/>
            <a:ext cx="45720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8FBFD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928616"/>
            <a:ext cx="3931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1F2D3A"/>
                </a:solidFill>
                <a:latin typeface="Aptos"/>
              </a:rPr>
              <a:t>Optional future IoT integration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5897880"/>
            <a:ext cx="5120640" cy="347472"/>
          </a:xfrm>
          <a:prstGeom prst="round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595274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30" b="1">
                <a:solidFill>
                  <a:srgbClr val="F8FBFD"/>
                </a:solidFill>
                <a:latin typeface="Aptos"/>
              </a:rPr>
              <a:t>FUTURE SCOPE  •  Validate before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F8292"/>
                </a:solidFill>
                <a:latin typeface="Aptos"/>
              </a:rPr>
              <a:t>DrainGuard AI  •  1M1B AI for Sustainability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solidFill>
                  <a:srgbClr val="6F829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D7B7E8-10E6-4493-6318-D2F59BBE6612}"/>
              </a:ext>
            </a:extLst>
          </p:cNvPr>
          <p:cNvSpPr txBox="1"/>
          <p:nvPr/>
        </p:nvSpPr>
        <p:spPr>
          <a:xfrm>
            <a:off x="685800" y="475488"/>
            <a:ext cx="192024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latin typeface="Aptos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D7BAB-3C56-BD71-ABEF-D13BF8557B00}"/>
              </a:ext>
            </a:extLst>
          </p:cNvPr>
          <p:cNvSpPr txBox="1"/>
          <p:nvPr/>
        </p:nvSpPr>
        <p:spPr>
          <a:xfrm>
            <a:off x="685799" y="1097280"/>
            <a:ext cx="1046988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latin typeface="Aptos"/>
              </a:rPr>
              <a:t>From fragmented observations</a:t>
            </a:r>
            <a:r>
              <a:rPr lang="en-US" sz="3000" b="1" dirty="0">
                <a:latin typeface="Aptos"/>
              </a:rPr>
              <a:t>  </a:t>
            </a:r>
            <a:r>
              <a:rPr sz="3000" b="1" dirty="0">
                <a:latin typeface="Aptos"/>
              </a:rPr>
              <a:t>to structured inspection priorities.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AFD2-76B8-A8F9-1500-06F997A2A4BC}"/>
              </a:ext>
            </a:extLst>
          </p:cNvPr>
          <p:cNvSpPr txBox="1"/>
          <p:nvPr/>
        </p:nvSpPr>
        <p:spPr>
          <a:xfrm>
            <a:off x="713232" y="2468880"/>
            <a:ext cx="6238174" cy="8079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 dirty="0">
                <a:latin typeface="Aptos"/>
              </a:rPr>
              <a:t>“</a:t>
            </a:r>
            <a:r>
              <a:rPr sz="1550" b="0" dirty="0" err="1">
                <a:latin typeface="Aptos"/>
              </a:rPr>
              <a:t>DrainGuard</a:t>
            </a:r>
            <a:r>
              <a:rPr sz="1550" b="0" dirty="0">
                <a:latin typeface="Aptos"/>
              </a:rPr>
              <a:t> AI demonstrates how responsible AI can transform fragmented drainage observations into structured inspection priorities and grounded maintenance guidance.”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99393B34-CC60-C97C-AE65-455D332D7CEA}"/>
              </a:ext>
            </a:extLst>
          </p:cNvPr>
          <p:cNvSpPr/>
          <p:nvPr/>
        </p:nvSpPr>
        <p:spPr>
          <a:xfrm>
            <a:off x="713232" y="3703320"/>
            <a:ext cx="6126480" cy="713232"/>
          </a:xfrm>
          <a:prstGeom prst="roundRect">
            <a:avLst/>
          </a:prstGeom>
          <a:solidFill>
            <a:srgbClr val="0F233A"/>
          </a:solidFill>
          <a:ln w="12700">
            <a:solidFill>
              <a:srgbClr val="2FB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CFCBF-2B9B-4251-0CDE-36CCC4A9E58C}"/>
              </a:ext>
            </a:extLst>
          </p:cNvPr>
          <p:cNvSpPr txBox="1"/>
          <p:nvPr/>
        </p:nvSpPr>
        <p:spPr>
          <a:xfrm>
            <a:off x="896112" y="3860172"/>
            <a:ext cx="57607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chemeClr val="bg1"/>
                </a:solidFill>
                <a:latin typeface="Aptos"/>
              </a:rPr>
              <a:t>AI supports the decision — human inspection remains the final verification step.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D866C-20EF-B2D4-42F6-BC2730BAAAF3}"/>
              </a:ext>
            </a:extLst>
          </p:cNvPr>
          <p:cNvSpPr txBox="1"/>
          <p:nvPr/>
        </p:nvSpPr>
        <p:spPr>
          <a:xfrm>
            <a:off x="713232" y="4892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latin typeface="Aptos"/>
              </a:rPr>
              <a:t>Papri Das  •  B.Tech – ECE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6A7118-3927-FF7B-A23D-B980A79068F0}"/>
              </a:ext>
            </a:extLst>
          </p:cNvPr>
          <p:cNvSpPr txBox="1"/>
          <p:nvPr/>
        </p:nvSpPr>
        <p:spPr>
          <a:xfrm>
            <a:off x="713232" y="523036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latin typeface="Aptos"/>
              </a:rPr>
              <a:t>Supreme Knowledge Foundation Group of Institutions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B065C-BAD3-D085-C2EE-A4728B0C4E53}"/>
              </a:ext>
            </a:extLst>
          </p:cNvPr>
          <p:cNvSpPr txBox="1"/>
          <p:nvPr/>
        </p:nvSpPr>
        <p:spPr>
          <a:xfrm>
            <a:off x="713232" y="5559552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latin typeface="Aptos"/>
              </a:rPr>
              <a:t>1M1B AI for Sustainability Virtual Internship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AE2BAB-3BC9-6A61-EE9C-807D79AC920C}"/>
              </a:ext>
            </a:extLst>
          </p:cNvPr>
          <p:cNvSpPr txBox="1"/>
          <p:nvPr/>
        </p:nvSpPr>
        <p:spPr>
          <a:xfrm>
            <a:off x="7360920" y="5138928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latin typeface="Aptos"/>
              </a:rPr>
              <a:t>THANK YOU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0ED3A2-6E04-BD93-59AD-B29DF7FCD840}"/>
              </a:ext>
            </a:extLst>
          </p:cNvPr>
          <p:cNvSpPr txBox="1"/>
          <p:nvPr/>
        </p:nvSpPr>
        <p:spPr>
          <a:xfrm>
            <a:off x="7360920" y="5715000"/>
            <a:ext cx="41605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 err="1">
                <a:latin typeface="Aptos"/>
              </a:rPr>
              <a:t>DrainGuard</a:t>
            </a:r>
            <a:r>
              <a:rPr sz="1200" b="1" dirty="0">
                <a:latin typeface="Aptos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8D7D96-6E75-7DDB-F776-91B40947729D}"/>
              </a:ext>
            </a:extLst>
          </p:cNvPr>
          <p:cNvSpPr txBox="1"/>
          <p:nvPr/>
        </p:nvSpPr>
        <p:spPr>
          <a:xfrm>
            <a:off x="621792" y="6510528"/>
            <a:ext cx="6858000" cy="2183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latin typeface="Aptos"/>
              </a:rPr>
              <a:t>DrainGuard AI  •  1M1B AI for Sustainability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6D6098-3D51-8AF8-4AED-E7BCD54449AF}"/>
              </a:ext>
            </a:extLst>
          </p:cNvPr>
          <p:cNvSpPr txBox="1"/>
          <p:nvPr/>
        </p:nvSpPr>
        <p:spPr>
          <a:xfrm>
            <a:off x="11155680" y="6510528"/>
            <a:ext cx="365760" cy="2183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19" b="1">
                <a:latin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6758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1618</Words>
  <Application>Microsoft Office PowerPoint</Application>
  <PresentationFormat>Widescreen</PresentationFormat>
  <Paragraphs>350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Papri Das</dc:creator>
  <cp:keywords/>
  <dc:description>generated using python-pptx</dc:description>
  <cp:lastModifiedBy>Papri Das</cp:lastModifiedBy>
  <cp:revision>7</cp:revision>
  <dcterms:created xsi:type="dcterms:W3CDTF">2013-01-27T09:14:16Z</dcterms:created>
  <dcterms:modified xsi:type="dcterms:W3CDTF">2026-09-18T14:51:46Z</dcterms:modified>
  <cp:category/>
</cp:coreProperties>
</file>